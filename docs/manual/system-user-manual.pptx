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l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280160" cy="1280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SYSTEM USER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CBD5E1"/>
                </a:solidFill>
                <a:latin typeface="Calibri"/>
              </a:rPr>
              <a:t>Comprehensive Guide to System Modules, Functions, and Procedures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Calibri"/>
              </a:rPr>
              <a:t>LGMED-iMMS</a:t>
            </a:r>
          </a:p>
          <a:p>
            <a:r>
              <a:rPr sz="1600" b="0">
                <a:solidFill>
                  <a:srgbClr val="FFFFFF"/>
                </a:solidFill>
                <a:latin typeface="Calibri"/>
              </a:rPr>
              <a:t>Local Government Monitoring and Evaluation Division - Information Management and Monitoring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BD5E1"/>
                </a:solidFill>
                <a:latin typeface="Calibri"/>
              </a:rPr>
              <a:t>Department of the Interior and Local Government - Regional Office XIII - Caraga  |  Version 1.0  |  08 October 2026  |  Build 3129cb5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1. Introduction and Purpose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2. Scope of the Manual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3. System Overview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4. System Requirements and Supported Browsers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5. Accessing the System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6. Logging In and Logging Out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7. User Interface Overview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8. Dashboard Guide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9. User Roles and Access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972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4155"/>
                </a:solidFill>
                <a:latin typeface="Calibri"/>
              </a:rPr>
              <a:t>10. Module-by-Module Instructions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11. Common Tasks and Procedures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12. Notifications and Alerts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13. Data Validation and Error Handling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14. Frequently Asked Questions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15. Troubleshooting Guide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16. Security, Privacy, and Good Practices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17. Glossary of Terms</a:t>
            </a:r>
          </a:p>
          <a:p>
            <a:r>
              <a:rPr sz="1500" b="0">
                <a:solidFill>
                  <a:srgbClr val="334155"/>
                </a:solidFill>
                <a:latin typeface="Calibri"/>
              </a:rPr>
              <a:t>18. Appendices and Reference Materials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1. Introduction and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2. Scope of the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3.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1. How work flows through LGMED-iMMS</a:t>
            </a:r>
          </a:p>
        </p:txBody>
      </p:sp>
      <p:pic>
        <p:nvPicPr>
          <p:cNvPr id="4" name="Picture 3" descr="diagrams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925" y="960120"/>
            <a:ext cx="8167668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4. System Requirements and Supported Browsers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5. Accessing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6. Logging In and Logging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2. The staff sign-in page (/staff or /accounts/login/)</a:t>
            </a:r>
          </a:p>
        </p:txBody>
      </p:sp>
      <p:pic>
        <p:nvPicPr>
          <p:cNvPr id="4" name="Picture 3" descr="access-access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Username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username issued by the system administrator.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Password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password. The eye button shows or hides what you typed; a warning appears if Caps Lock is 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Forgot password?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an e-mail to the office asking for a password reset. Passwords are reset by an administrator.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Sign in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Submits your username and password.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Public visitor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3. The Data Privacy Notice shown at first sign-in</a:t>
            </a:r>
          </a:p>
        </p:txBody>
      </p:sp>
      <p:pic>
        <p:nvPicPr>
          <p:cNvPr id="4" name="Picture 3" descr="access-access-privac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620"/>
            <a:ext cx="7680960" cy="5013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Notice 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Data Privacy Act of 2012 (Republic Act No. 10173). Scroll to read all sections.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Agreement box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Tick to confirm you have read and agree to the notice.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Decline and sign out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Leaves the system without accepting. You cannot use LGMED-iMMS until you accept.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I Agree and Continue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Becomes available once the box is ticked; records your acceptance and opens the system.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4. The account menu in the top bar</a:t>
            </a:r>
          </a:p>
        </p:txBody>
      </p:sp>
      <p:pic>
        <p:nvPicPr>
          <p:cNvPr id="4" name="Picture 3" descr="access-access-account-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54" y="960120"/>
            <a:ext cx="752785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Account menu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name and position. Click to open or close the menu.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My profile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account details, profile photo, permissions and two-step verification.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the public LGMED website.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Sign out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Ends your session. Always sign out on a shared computer.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7. User Interface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5. Parts of the LGMED-iMMS screen (Dashboard, signed in as the Division Chief)</a:t>
            </a:r>
          </a:p>
        </p:txBody>
      </p:sp>
      <p:pic>
        <p:nvPicPr>
          <p:cNvPr id="4" name="Picture 3" descr="interface-ui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7074"/>
            <a:ext cx="7680960" cy="486105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System banner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Confirms you are in the secure internal system, for authorised personnel only.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55448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490472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Search records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Quick search box in the top bar.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08483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020824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Notifications bell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The red badge counts your unread notifications. Click to see the latest.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261518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551176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Account menu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Profile, public website and Sign out.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081528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Sidebar - Main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Operational modules. You only see the modules your role and menu permissions allow.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611880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Current page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The highlighted item shows where you are.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142232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LGMED Innovation Action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e-SIRA, pinned at the foot of the sidebar.</a:t>
            </a:r>
          </a:p>
        </p:txBody>
      </p:sp>
      <p:sp>
        <p:nvSpPr>
          <p:cNvPr id="19" name="Oval 18"/>
          <p:cNvSpPr/>
          <p:nvPr/>
        </p:nvSpPr>
        <p:spPr>
          <a:xfrm>
            <a:off x="8366760" y="473659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4672584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Breadcrumb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The path to the current page. Click an earlier part to go back.</a:t>
            </a:r>
          </a:p>
        </p:txBody>
      </p:sp>
      <p:sp>
        <p:nvSpPr>
          <p:cNvPr id="21" name="Oval 20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5202936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Page title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The name of the page, with a short description beneath it.</a:t>
            </a:r>
          </a:p>
        </p:txBody>
      </p:sp>
      <p:sp>
        <p:nvSpPr>
          <p:cNvPr id="23" name="Oval 22"/>
          <p:cNvSpPr/>
          <p:nvPr/>
        </p:nvSpPr>
        <p:spPr>
          <a:xfrm>
            <a:off x="8366760" y="579729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5733288"/>
            <a:ext cx="3200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2A5C"/>
                </a:solidFill>
                <a:latin typeface="Calibri"/>
              </a:rPr>
              <a:t>Page actions</a:t>
            </a:r>
          </a:p>
          <a:p>
            <a:r>
              <a:rPr sz="950" b="0">
                <a:solidFill>
                  <a:srgbClr val="334155"/>
                </a:solidFill>
                <a:latin typeface="Calibri"/>
              </a:rPr>
              <a:t>The main actions for the page, at the top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6. The notifications drop-down</a:t>
            </a:r>
          </a:p>
        </p:txBody>
      </p:sp>
      <p:pic>
        <p:nvPicPr>
          <p:cNvPr id="4" name="Picture 3" descr="interface-ui-notification-b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1798" y="960120"/>
            <a:ext cx="623792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8. Dashboard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7. The Dashboard - summary figures</a:t>
            </a:r>
          </a:p>
        </p:txBody>
      </p:sp>
      <p:pic>
        <p:nvPicPr>
          <p:cNvPr id="4" name="Picture 3" descr="dashboard-dashboard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Summary figure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 headline count taken directly from the records.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View details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the records behind the figure.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Export reports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Downloads the Reports register as a CSV file.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New monitoring record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Shortcut to record a monitoring activity (roles that may encode).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Time stamp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When the figures were calculated (Philippine Standard Time).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8. The Dashboard - recent activity and items requiring attention</a:t>
            </a:r>
          </a:p>
        </p:txBody>
      </p:sp>
      <p:pic>
        <p:nvPicPr>
          <p:cNvPr id="4" name="Picture 3" descr="dashboard-dashboard-pane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270" y="960120"/>
            <a:ext cx="6794818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Recent Monitoring Activities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latest monitoring records; click an LGU or the eye icon to open one.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Requires Attention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Work waiting on the Division, such as documents awaiting review or overdue follow-ups. Each line opens the matching records.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Upcoming Activities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Calendar activities coming up that you are allowed to see.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9. User Roles and Access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10. Module-by-Module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 My Profile and Two-Step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9. My Profile</a:t>
            </a:r>
          </a:p>
        </p:txBody>
      </p:sp>
      <p:pic>
        <p:nvPicPr>
          <p:cNvPr id="4" name="Picture 3" descr="profile-profile-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13" y="960120"/>
            <a:ext cx="3497333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Account Details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name, username, e-mail, position and office as recorded by the administrator.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Profile photo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Choose a JPEG, PNG or WebP picture (up to 5 MB) and click Upload.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Request a correction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an e-mail to the office to correct your account details.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System Access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role and the permissions it carries.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Two-step verification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Protect your account with an authenticator app (required for administrators).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10. Setting up two-step verification</a:t>
            </a:r>
          </a:p>
        </p:txBody>
      </p:sp>
      <p:pic>
        <p:nvPicPr>
          <p:cNvPr id="4" name="Picture 3" descr="profile-profile-mfa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88" y="960120"/>
            <a:ext cx="776874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10.2 Notifications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11. The Notifications page</a:t>
            </a:r>
          </a:p>
        </p:txBody>
      </p:sp>
      <p:pic>
        <p:nvPicPr>
          <p:cNvPr id="4" name="Picture 3" descr="notifications-notification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Mark all read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Marks every notification as read.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Unread only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Shows only notifications you have not opened.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Category filter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Awaiting review, Overdue, Awaiting publication, Assigned to you, Account or System.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Priority filter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Information, Needs action or Urgent.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Notification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Click the title or Open to go to the record it concerns. Dismiss removes it from your list.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10.3 Programs, Projects and Activities (PPAs)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12. Programs, Projects and Activities - the workbench</a:t>
            </a:r>
          </a:p>
        </p:txBody>
      </p:sp>
      <p:pic>
        <p:nvPicPr>
          <p:cNvPr id="4" name="Picture 3" descr="programs-programs-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Programs &amp; Projects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for the module.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Organizational Outcome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Shows the programmes under one of the Department's five outcomes, or all of them.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Include archived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Also lists archived records.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 queue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Items waiting for review (reviewers only).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Program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Starts a new programme.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Programme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Click a title to open the record.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13. A project record (Administrator view)</a:t>
            </a:r>
          </a:p>
        </p:txBody>
      </p:sp>
      <p:pic>
        <p:nvPicPr>
          <p:cNvPr id="4" name="Picture 3" descr="programs-programs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Preview public page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Shows how the page will look on the public website.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Edit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Changes the record's details.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Upload document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supporting files or photographs.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Sub-Projects / Activities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under this one. Add creates a new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14. Supporting documents and the Publication panel</a:t>
            </a:r>
          </a:p>
        </p:txBody>
      </p:sp>
      <p:pic>
        <p:nvPicPr>
          <p:cNvPr id="4" name="Picture 3" descr="programs-programs-publi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Supporting documents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Uploaded files with their screening result and review status.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Where the record stands: Draft, For review, Screening, Review required, Approved, Published, Unpublished, Archived.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Publish to the 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Administrators only, once the content is approved.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Archive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Closes the record out; kept, not public.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15. New Program form</a:t>
            </a:r>
          </a:p>
        </p:txBody>
      </p:sp>
      <p:pic>
        <p:nvPicPr>
          <p:cNvPr id="4" name="Picture 3" descr="programs-program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264" y="960120"/>
            <a:ext cx="305483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The programme's name.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Organizational outcome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Which of the five Department outcomes it serves.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Implementation 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Pending, Active, Completed, Suspended or Archived.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Covered LGUs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Select the LGUs the programme covers.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 page headings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Optional headings used on the public page.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record as a Draft. Cancel returns without saving.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16. Upload supporting documents</a:t>
            </a:r>
          </a:p>
        </p:txBody>
      </p:sp>
      <p:pic>
        <p:nvPicPr>
          <p:cNvPr id="4" name="Picture 3" descr="programs-programs-up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91" y="960120"/>
            <a:ext cx="517457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 or photographs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One file, or several photographs at once.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 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Type of document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Issuance, report, guidelines, presentation, photograph, certificate or other.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Confirmation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Confirms you checked the file's contents before uploading.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Upload and screen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Uploads the file and runs the automated screening for personal or confidential information.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17. The PPA Review Queue</a:t>
            </a:r>
          </a:p>
        </p:txBody>
      </p:sp>
      <p:pic>
        <p:nvPicPr>
          <p:cNvPr id="4" name="Picture 3" descr="programs-programs-que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965" y="960120"/>
            <a:ext cx="6755428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PPA Review Queue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Visible to LGMED Staff, the Division Chief and administrators.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Files awaiting 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Uploaded files whose screening needs a reviewer's decision.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Content awaiting 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submitted for review. Click Review to open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18. Recording a review decision on a submitted record</a:t>
            </a:r>
          </a:p>
        </p:txBody>
      </p:sp>
      <p:pic>
        <p:nvPicPr>
          <p:cNvPr id="4" name="Picture 3" descr="programs-programs-deci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786" y="960120"/>
            <a:ext cx="528578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Decision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Approve the content, Request revision, or Reject.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 comments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 when requesting revision or rejecting, so the encoder knows what to change.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 decision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decision; the record moves to Approved, back to Draft, or is rejected.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19. Publication Authorities</a:t>
            </a:r>
          </a:p>
        </p:txBody>
      </p:sp>
      <p:pic>
        <p:nvPicPr>
          <p:cNvPr id="4" name="Picture 3" descr="programs-programs-authoriti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Publication Authorities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Memoranda that authorise releasing files to the public.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 a memorandum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a new memorandum before any file is cited against it.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Recorded memoranda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Reference, date issued, whether it is in effect, and how many files it released.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20. Programs, Projects and Activities: from draft to the public website</a:t>
            </a:r>
          </a:p>
        </p:txBody>
      </p:sp>
      <p:pic>
        <p:nvPicPr>
          <p:cNvPr id="4" name="Picture 3" descr="diagrams-p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048" y="960120"/>
            <a:ext cx="6327422" cy="5394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10.4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21. The Monitoring register</a:t>
            </a:r>
          </a:p>
        </p:txBody>
      </p:sp>
      <p:pic>
        <p:nvPicPr>
          <p:cNvPr id="4" name="Picture 3" descr="monitoring-monitoring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Monitoring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6870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2306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Export CSV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Downloads the rows currently listed - with the search and filters applied - as a spreadsheet file. Every export is recorded in the audit trail.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8600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New Monitoring Record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Records a monitoring activity.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0129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94894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Search box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Type part of a name, title, code or other text, then press Enter or click Apply.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61188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Filters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Province, LGU type, Status and Year narrow the list.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33882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2748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Apply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Runs the search and filters.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00176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93775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Sortable heading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Click to sort by this column.</a:t>
            </a:r>
          </a:p>
        </p:txBody>
      </p:sp>
      <p:sp>
        <p:nvSpPr>
          <p:cNvPr id="19" name="Oval 18"/>
          <p:cNvSpPr/>
          <p:nvPr/>
        </p:nvSpPr>
        <p:spPr>
          <a:xfrm>
            <a:off x="8366760" y="566470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560069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Row actions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View (eye), Edit (pencil) and Delete (bin) for that record. Only the actions your role permits are shown.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22. A monitoring record</a:t>
            </a:r>
          </a:p>
        </p:txBody>
      </p:sp>
      <p:pic>
        <p:nvPicPr>
          <p:cNvPr id="4" name="Picture 3" descr="monitoring-monitoring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33" y="960120"/>
            <a:ext cx="7062493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Back to list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Returns to the register.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Prints the record.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Edit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Changes the record.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Delete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Administrators only; asks for confirmation.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Progress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Where the record stands.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Supporting Documents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Attach files with a title and click Attach.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23. New Monitoring Record form</a:t>
            </a:r>
          </a:p>
        </p:txBody>
      </p:sp>
      <p:pic>
        <p:nvPicPr>
          <p:cNvPr id="4" name="Picture 3" descr="monitoring-monitoring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472" y="960119"/>
            <a:ext cx="4258415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Activity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What was monitored.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6870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2306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LGU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LGU monitored.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8600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Monitoring date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0129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94894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Monitoring team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Who conducted it.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61188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Findings and Recommendations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What was found and what is recommended.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33882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2748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Follow-up due date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When the follow-up action falls due; overdue follow-ups raise notifications.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00176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93775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Scheduled, In progress, For review, Completed or Cancelled.</a:t>
            </a:r>
          </a:p>
        </p:txBody>
      </p:sp>
      <p:sp>
        <p:nvSpPr>
          <p:cNvPr id="19" name="Oval 18"/>
          <p:cNvSpPr/>
          <p:nvPr/>
        </p:nvSpPr>
        <p:spPr>
          <a:xfrm>
            <a:off x="8366760" y="566470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560069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Saves the record.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24. Every deletion asks for confirmation</a:t>
            </a:r>
          </a:p>
        </p:txBody>
      </p:sp>
      <p:pic>
        <p:nvPicPr>
          <p:cNvPr id="4" name="Picture 3" descr="monitoring-monitoring-dele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3555"/>
            <a:ext cx="7680960" cy="4028089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Cancel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Closes the dialog; nothing is deleted.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Delete Record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Permanently deletes the record. This cannot be undone.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10.5 Incoming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25. Incoming Monitoring - the documents register</a:t>
            </a:r>
          </a:p>
        </p:txBody>
      </p:sp>
      <p:pic>
        <p:nvPicPr>
          <p:cNvPr id="4" name="Picture 3" descr="incoming-incoming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Incoming Monitoring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781773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17765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Monitoring dashboard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The Division Chief's overview (Administrators).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539419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475411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Record Incoming Document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Records a newly received document.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297065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233057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Tabs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Documents, Monitoring dashboard and Monitoring reports.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05471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990702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Status figures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Totals by status; overdue items are shown in red.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81235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48348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View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Quick lists such as Assigned to me, For Division Chief review, Awaiting acknowledgement, Overdue.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57000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505994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Open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Opens the document's record.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26. Recording an incoming document (Encoder)</a:t>
            </a:r>
          </a:p>
        </p:txBody>
      </p:sp>
      <p:pic>
        <p:nvPicPr>
          <p:cNvPr id="4" name="Picture 3" descr="incoming-incoming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20" y="960120"/>
            <a:ext cx="596392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DNS number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document's number in the Document Numbering System.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781773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17765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Subject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539419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475411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Document type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297065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233057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Date received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Defaults to today.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05471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990702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Source / office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Who sent it.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81235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48348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Attachment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The scanned document (optional).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57000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505994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Records the document. It starts at For Division Chief review with no focal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27. The new record, awaiting the Division Chief's review</a:t>
            </a:r>
          </a:p>
        </p:txBody>
      </p:sp>
      <p:pic>
        <p:nvPicPr>
          <p:cNvPr id="4" name="Picture 3" descr="incoming-incoming-record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Confirmation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Confirms the document was recorded.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Progress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Shows each stage; the current one is highlighted.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LGMED code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record's identifier.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28. The Division Chief's review and assignment (Administrator)</a:t>
            </a:r>
          </a:p>
        </p:txBody>
      </p:sp>
      <p:pic>
        <p:nvPicPr>
          <p:cNvPr id="4" name="Picture 3" descr="incoming-incoming-review-as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08" y="960120"/>
            <a:ext cx="705394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Division Chief's 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Notes or instructions on what the document requires. Save review notes records them.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Focal person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The officer who will act on the document.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Priority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Low, Normal, High or Urgent.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 due date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When action is due; the document becomes overdue after this date.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Assign and notify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Assigns the document and notifies the focal person.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29. The focal person acknowledges the assignment (LGMED Staff)</a:t>
            </a:r>
          </a:p>
        </p:txBody>
      </p:sp>
      <p:pic>
        <p:nvPicPr>
          <p:cNvPr id="4" name="Picture 3" descr="incoming-incoming-acknowled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897" y="960120"/>
            <a:ext cx="6053565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Acknowledge receipt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Confirms you received the assignment. The document then continues in Outgoing Monitoring under its LGMED code.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Assignment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Who assigned it, when, the priority, due date and the Chief's instructions.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30. Incoming Monitoring Dashboard (Administrators)</a:t>
            </a:r>
          </a:p>
        </p:txBody>
      </p:sp>
      <p:pic>
        <p:nvPicPr>
          <p:cNvPr id="4" name="Picture 3" descr="incoming-incoming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205" y="960119"/>
            <a:ext cx="396094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Figures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Every figure is a link to the documents it counts.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For 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Documents still waiting for the Chief.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Overdue Documents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Past their action due date and not completed.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Documents by Focal Person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Workload per officer.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31. Monitoring Reports</a:t>
            </a:r>
          </a:p>
        </p:txBody>
      </p:sp>
      <p:pic>
        <p:nvPicPr>
          <p:cNvPr id="4" name="Picture 3" descr="incoming-incoming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183" y="960120"/>
            <a:ext cx="6214993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Ten ready-made reports. Click one to open it.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Filters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Narrow the report by text, dates, focal person, status, type; choose the sort order.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Prints the report.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Export CSV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Downloads the same rows as a spreadsheet file.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32. Incoming and Outgoing Monitoring workflow</a:t>
            </a:r>
          </a:p>
        </p:txBody>
      </p:sp>
      <p:pic>
        <p:nvPicPr>
          <p:cNvPr id="4" name="Picture 3" descr="diagrams-inco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369" y="960120"/>
            <a:ext cx="5686781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10.6 Outgoing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33. Outgoing Monitoring</a:t>
            </a:r>
          </a:p>
        </p:txBody>
      </p:sp>
      <p:pic>
        <p:nvPicPr>
          <p:cNvPr id="4" name="Picture 3" descr="outgoing-outgoing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Outgoing Monitoring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Sync from Excel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Imports historical records from the Outgoing spreadsheet (Data Sync).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Assigned to me, For action (open), Action completed, Communication not yet sent, From the spreadsheet register.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Search box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Type part of a name, title, code or other text, then press Enter or click Apply.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Open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the outgoing record.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34. Reporting action on an assigned document (focal person)</a:t>
            </a:r>
          </a:p>
        </p:txBody>
      </p:sp>
      <p:pic>
        <p:nvPicPr>
          <p:cNvPr id="4" name="Picture 3" descr="outgoing-outgoing-upd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690" y="960120"/>
            <a:ext cx="573197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 Progress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Where the document stands.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 taken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What you did.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Current 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In progress, For action, Pending or Completed - the update and the status change are one act.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Supporting attachment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Optional file, e.g. the reply sent.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 update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update.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 communication sent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the reply or transmittal that was sent.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35. Returning a document to the focal person (Division Chief)</a:t>
            </a:r>
          </a:p>
        </p:txBody>
      </p:sp>
      <p:pic>
        <p:nvPicPr>
          <p:cNvPr id="4" name="Picture 3" descr="outgoing-outgoing-retur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80" y="960119"/>
            <a:ext cx="429999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What needs revision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Explain what must be revised.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Return to focal person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Sends the document back; its status becomes Returned / for revision.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36. Recording the communication sent</a:t>
            </a:r>
          </a:p>
        </p:txBody>
      </p:sp>
      <p:pic>
        <p:nvPicPr>
          <p:cNvPr id="4" name="Picture 3" descr="outgoing-outgoing-s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494" y="960120"/>
            <a:ext cx="491237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Date sent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The date the reply or transmittal was sent.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Subject / 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Filled in from the incoming document; change it if needed.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Sent to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addressee.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 of the communication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communication as sent; it is filed in the Documents register with the incoming document.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 communication details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the communication; Cancel returns without saving.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10.7 Data Sync (spreadsheet import)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37. Data Sync - choosing the register and uploading the workbook</a:t>
            </a:r>
          </a:p>
        </p:txBody>
      </p:sp>
      <p:pic>
        <p:nvPicPr>
          <p:cNvPr id="4" name="Picture 3" descr="datasync-sync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Data Sync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(roles that may encode).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Migration type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Incoming keeps the register in step (new rows added, changed rows updated). Outgoing imports historical records once.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Columns read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column headings the sync recognises in the workbook.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Excel workbook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Choose the .xlsx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Upload and preview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Reads every sheet and shows a preview. Nothing is saved yet.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38. The preview of an uploaded workbook (illustrative sample file)</a:t>
            </a:r>
          </a:p>
        </p:txBody>
      </p:sp>
      <p:pic>
        <p:nvPicPr>
          <p:cNvPr id="4" name="Picture 3" descr="datasync-sync-pre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030" y="960120"/>
            <a:ext cx="590329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Sheets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Tick the sheets to include, then redraw the preview.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Commit sync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previewed rows to the register.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Discard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Throws the upload away; nothing is saved.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10.8 LGU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39. LGU Management - the directory of the 78 LGUs of Region XIII</a:t>
            </a:r>
          </a:p>
        </p:txBody>
      </p:sp>
      <p:pic>
        <p:nvPicPr>
          <p:cNvPr id="4" name="Picture 3" descr="lgus-lgu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002" y="960120"/>
            <a:ext cx="5237354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LGU Management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781773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17765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Export CSV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Downloads the rows currently listed - with the search and filters applied - as a spreadsheet file. Every export is recorded in the audit trail.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539419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475411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Add LGU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Adds an LGU to the directory.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297065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233057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Search box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Type part of a name, title, code or other text, then press Enter or click Apply.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05471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990702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Compliance filter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Compliant, Partially compliant, Non-compliant, Not yet assessed.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81235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48348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Row actions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View (eye), Edit (pencil) and Delete (bin) for that record. Only the actions your role permits are shown.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57000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505994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Pagination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Moves between pages of results. The number of rows per page is a system setting.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40. An LGU profile</a:t>
            </a:r>
          </a:p>
        </p:txBody>
      </p:sp>
      <p:pic>
        <p:nvPicPr>
          <p:cNvPr id="4" name="Picture 3" descr="lgus-lgus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LGU Profile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Type, province, income class and compliance status.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Monitoring History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Monitoring activities recorded for the LGU.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New record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a monitoring activity.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Contact Information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LGU's contact person and details.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41. New LGU form</a:t>
            </a:r>
          </a:p>
        </p:txBody>
      </p:sp>
      <p:pic>
        <p:nvPicPr>
          <p:cNvPr id="4" name="Picture 3" descr="lgus-lgu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854" y="960120"/>
            <a:ext cx="506965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LGU name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LGU type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Province, City or Municipality.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Province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Compliance 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Active in the directory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Untick to hide an LGU without deleting it.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LGU.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10.9 Frontline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42. Frontline Services</a:t>
            </a:r>
          </a:p>
        </p:txBody>
      </p:sp>
      <p:pic>
        <p:nvPicPr>
          <p:cNvPr id="4" name="Picture 3" descr="services-service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Frontline Services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Service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a service.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Publication filter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Published or Not published on the public website.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43. New Frontline Service form</a:t>
            </a:r>
          </a:p>
        </p:txBody>
      </p:sp>
      <p:pic>
        <p:nvPicPr>
          <p:cNvPr id="4" name="Picture 3" descr="services-service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186" y="960120"/>
            <a:ext cx="468698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Service name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Service type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Simple, Complex or Highly technical transaction.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Requirements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What the client must bring.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Published on the 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Tick to list the service on the public website.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10.10 Updates &amp; Accomplishments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44. Updates &amp; Accomplishments - the division dashboard</a:t>
            </a:r>
          </a:p>
        </p:txBody>
      </p:sp>
      <p:pic>
        <p:nvPicPr>
          <p:cNvPr id="4" name="Picture 3" descr="updates-updates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Accomplishments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Convocation 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presentation for the Monday convocation.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 disclosure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How much of the published record the public website shows (Chief / LGMED Staff).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Update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Contributes an entry to the Division's week.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Year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Changes the year the statistics cover.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This week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current reporting week and what it still lacks.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45. A reporting week (open for contributions)</a:t>
            </a:r>
          </a:p>
        </p:txBody>
      </p:sp>
      <p:pic>
        <p:nvPicPr>
          <p:cNvPr id="4" name="Picture 3" descr="updates-updates-we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Convocation 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Presentation view of the week.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Submit for review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Hands the week to the Division Chief.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Update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an entry.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The Division's Week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Which of the seven parts of the week are recorded and which are still missing.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46. New Division Update form</a:t>
            </a:r>
          </a:p>
        </p:txBody>
      </p:sp>
      <p:pic>
        <p:nvPicPr>
          <p:cNvPr id="4" name="Picture 3" descr="updates-update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37" y="960120"/>
            <a:ext cx="2935885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Reporting period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week the entry belongs to.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781773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17765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Title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539419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475411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Category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Activity, communication, technical assistance, report, POPS Plan accomplishment or other.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297065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233057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Activity type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Conducted, Facilitated, Participated in, Attended, Meeting, Training - or Not an activity.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05471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990702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Completed, Ongoing, Pending or Upcoming.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81235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48348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Date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Must fall inside the reporting week, except for Upcoming items.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57000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505994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Saves the entry to the week.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47. An entry and its means of verification</a:t>
            </a:r>
          </a:p>
        </p:txBody>
      </p:sp>
      <p:pic>
        <p:nvPicPr>
          <p:cNvPr id="4" name="Picture 3" descr="updates-updates-ent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684" y="960120"/>
            <a:ext cx="612999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Means of Verification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Evidence filed for the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Type of evidence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Photograph, official document, report, certificate, attendance sheet, letter or other.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The evidence file.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Cleared for the 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Only cleared evidence on a published week reaches the public website.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 the evidence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Attaches the file to the entry.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48. The Division Chief's review of a week</a:t>
            </a:r>
          </a:p>
        </p:txBody>
      </p:sp>
      <p:pic>
        <p:nvPicPr>
          <p:cNvPr id="4" name="Picture 3" descr="updates-updates-re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992" y="960120"/>
            <a:ext cx="4809374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Remarks &amp; Theme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week's theme and the Chief's remarks (Save remarks).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Major Accomplishments to Present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Tick what leads the Monday convocation (Save selection).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Publish to the 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Publishes the cleared items of the week.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Reopen for contributions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Returns the week to staff; withdraws it from the public website if it was published.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49. The Monday Convocation view</a:t>
            </a:r>
          </a:p>
        </p:txBody>
      </p:sp>
      <p:pic>
        <p:nvPicPr>
          <p:cNvPr id="4" name="Picture 3" descr="updates-updates-convo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Change the selection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Returns to the review page to choose what is presented.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Prints the presentation.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Division Statistics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week's figures, typed large to be read from the back of a room.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50. Public Disclosure Window</a:t>
            </a:r>
          </a:p>
        </p:txBody>
      </p:sp>
      <p:pic>
        <p:nvPicPr>
          <p:cNvPr id="4" name="Picture 3" descr="updates-updates-disclos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796" y="960120"/>
            <a:ext cx="5599766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What the public website shows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Most recent completed weeks, most recent months, a fixed date range, or every published week.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Week in progress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Off by default: the running week is not shown publicly.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Showing Now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weeks the current setting puts on the public website.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setting.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51. The weekly Updates &amp; Accomplishments cycle</a:t>
            </a:r>
          </a:p>
        </p:txBody>
      </p:sp>
      <p:pic>
        <p:nvPicPr>
          <p:cNvPr id="4" name="Picture 3" descr="diagrams-up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369" y="960120"/>
            <a:ext cx="5686781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10.11 Announcements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52. Announcements</a:t>
            </a:r>
          </a:p>
        </p:txBody>
      </p:sp>
      <p:pic>
        <p:nvPicPr>
          <p:cNvPr id="4" name="Picture 3" descr="announcements-announcement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Announcements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Announcement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Writes a news item, advisory, issuance, activity or commendation.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Publication filter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Published or Draft.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53. New Announcement form</a:t>
            </a:r>
          </a:p>
        </p:txBody>
      </p:sp>
      <p:pic>
        <p:nvPicPr>
          <p:cNvPr id="4" name="Picture 3" descr="announcements-announcement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893" y="960120"/>
            <a:ext cx="386357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Headline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6870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2306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Category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28600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Date published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A future date keeps the item off the public site until that day.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0129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94894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Lead paragraph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summary shown on the news feed.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61188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Photograph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Optional image for the item.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33882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274820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Published on the public website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Untick to keep the item as a draft.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00176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93775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Feature on the homepage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Puts the item in the homepage's featured position.</a:t>
            </a:r>
          </a:p>
        </p:txBody>
      </p:sp>
      <p:sp>
        <p:nvSpPr>
          <p:cNvPr id="19" name="Oval 18"/>
          <p:cNvSpPr/>
          <p:nvPr/>
        </p:nvSpPr>
        <p:spPr>
          <a:xfrm>
            <a:off x="8366760" y="566470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5600699"/>
            <a:ext cx="320040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Saves the item.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10.12 Document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54. Document Management - the register</a:t>
            </a:r>
          </a:p>
        </p:txBody>
      </p:sp>
      <p:pic>
        <p:nvPicPr>
          <p:cNvPr id="4" name="Picture 3" descr="documents-document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691" y="960120"/>
            <a:ext cx="298797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 Management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Register Document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Registers a document.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Tabs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Register, Monitoring, Files, and Retention &amp; Archive.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View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Owned by me, Assigned to me, Not yet assigned, Overdue, Retention review due, Archived and more.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Draft, Received, For review, For assignment, Assigned, In progress, For approval, Completed, Archived, Cancelled.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55. A document record</a:t>
            </a:r>
          </a:p>
        </p:txBody>
      </p:sp>
      <p:pic>
        <p:nvPicPr>
          <p:cNvPr id="4" name="Picture 3" descr="documents-documents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867" y="960120"/>
            <a:ext cx="4047625" cy="5394959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 Lifecycle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Each stage from registration to completion; the current stage is highlighted.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 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View or download the file, its version history, and upload a new version.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 and Assignment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Review notes, the focal person and the Chief's instructions.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next step for the document's current status (see Table).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56. Register Document form</a:t>
            </a:r>
          </a:p>
        </p:txBody>
      </p:sp>
      <p:pic>
        <p:nvPicPr>
          <p:cNvPr id="4" name="Picture 3" descr="documents-document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955" y="960119"/>
            <a:ext cx="335944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Document title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781773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17765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Document type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type decides the retention period.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539419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475411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Action due date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Optional; overdue documents are flagged.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297065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233057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Owner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 The person answerable for the document.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05471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990702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Office / division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481235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4748348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Document file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The file (version 1).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5570002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5505994"/>
            <a:ext cx="3200400" cy="75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050" b="0">
                <a:solidFill>
                  <a:srgbClr val="334155"/>
                </a:solidFill>
                <a:latin typeface="Calibri"/>
              </a:rPr>
              <a:t>Registers the document and issues its control number.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57. Review and assignment of a document (Division Chief)</a:t>
            </a:r>
          </a:p>
        </p:txBody>
      </p:sp>
      <p:pic>
        <p:nvPicPr>
          <p:cNvPr id="4" name="Picture 3" descr="documents-documents-as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 and Assignment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Chief names the focal person and gives instructions.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Retention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 a retention decision: within period, for review, for disposal, or permanent preservation.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58. Document Files - every stored file in one list</a:t>
            </a:r>
          </a:p>
        </p:txBody>
      </p:sp>
      <p:pic>
        <p:nvPicPr>
          <p:cNvPr id="4" name="Picture 3" descr="documents-documents-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Source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Incoming document, Focal person's update, Outgoing communication, or Registered here.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Search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Runs the search.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Download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Downloads the file. Every download is recorded on the document's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59. Document Monitoring</a:t>
            </a:r>
          </a:p>
        </p:txBody>
      </p:sp>
      <p:pic>
        <p:nvPicPr>
          <p:cNvPr id="4" name="Picture 3" descr="documents-documents-monito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17" y="960120"/>
            <a:ext cx="5447925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Document counts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Each figure is a link to the documents it counts.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Awaiting action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Documents waiting at each stage.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Overdue documents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Past their action due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60. Archiving a completed document</a:t>
            </a:r>
          </a:p>
        </p:txBody>
      </p:sp>
      <p:pic>
        <p:nvPicPr>
          <p:cNvPr id="4" name="Picture 3" descr="documents-documents-arch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584" y="960120"/>
            <a:ext cx="619619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Reason for archiving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Why the document is being archived.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Archive document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Archives it. Nothing is deleted; access is restricted and it leaves the public website.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61. Retention and Archive</a:t>
            </a:r>
          </a:p>
        </p:txBody>
      </p:sp>
      <p:pic>
        <p:nvPicPr>
          <p:cNvPr id="4" name="Picture 3" descr="documents-documents-reten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893" y="960120"/>
            <a:ext cx="551757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Browse the archive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Lists archived documents.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Retention review due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Documents whose retention period has run out.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Retention schedule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retention period of each document type.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62. Document Management lifecycle</a:t>
            </a:r>
          </a:p>
        </p:txBody>
      </p:sp>
      <p:pic>
        <p:nvPicPr>
          <p:cNvPr id="4" name="Picture 3" descr="diagrams-docum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369" y="960120"/>
            <a:ext cx="5686781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10.13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63. Analytics</a:t>
            </a:r>
          </a:p>
        </p:txBody>
      </p:sp>
      <p:pic>
        <p:nvPicPr>
          <p:cNvPr id="4" name="Picture 3" descr="analytics-analytics-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Analytics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Year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year analysed.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Export CSV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Downloads the figures.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Print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Prints the page.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Headline figures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Coverage, trend and turnaround for the year.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64. Least-Monitored LGUs</a:t>
            </a:r>
          </a:p>
        </p:txBody>
      </p:sp>
      <p:pic>
        <p:nvPicPr>
          <p:cNvPr id="4" name="Picture 3" descr="analytics-analytics-lea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Least-Monitored LGUs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LGUs the Division has reached least, in the order to reach them.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Schedule monitoring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a new monitoring record.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10.14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65. Reports</a:t>
            </a:r>
          </a:p>
        </p:txBody>
      </p:sp>
      <p:pic>
        <p:nvPicPr>
          <p:cNvPr id="4" name="Picture 3" descr="reports-report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468" y="960120"/>
            <a:ext cx="564042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Report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a report.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Draft, Submitted, For review, Approved, Published, Returned.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66. New Report form</a:t>
            </a:r>
          </a:p>
        </p:txBody>
      </p:sp>
      <p:pic>
        <p:nvPicPr>
          <p:cNvPr id="4" name="Picture 3" descr="reports-report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0944" y="960120"/>
            <a:ext cx="505347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 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Reporting period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Monthly, Quarterly, Semestral, Annual or Special report.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Year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report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Where the report stands in review.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report.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67. A report and its review workflow</a:t>
            </a:r>
          </a:p>
        </p:txBody>
      </p:sp>
      <p:pic>
        <p:nvPicPr>
          <p:cNvPr id="4" name="Picture 3" descr="reports-reports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 Workflow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Draft, Submitted, For review, Approved, Published.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 Summary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Summary, file and any review remarks.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Edit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Changes the report, including its status.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10.15 Calendar and Activity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68. The Calendar (All employees, month view)</a:t>
            </a:r>
          </a:p>
        </p:txBody>
      </p:sp>
      <p:pic>
        <p:nvPicPr>
          <p:cNvPr id="4" name="Picture 3" descr="calendar-calendar-mon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100" y="960120"/>
            <a:ext cx="4693158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Calendar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Activity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the full activity form.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Scope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My calendar, Assigned to me, Shared with me, All employees (supervisors).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Period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Month, Week, Upcoming, Overdue.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Month navigation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Previous and next month.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Month grid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Click anywhere in a day to see everything on it and add an activity for that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69. The day dialog - quick add for the selected day</a:t>
            </a:r>
          </a:p>
        </p:txBody>
      </p:sp>
      <p:pic>
        <p:nvPicPr>
          <p:cNvPr id="4" name="Picture 3" descr="calendar-calendar-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9754" y="960120"/>
            <a:ext cx="357585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Activity type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Visibility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Private (only you and your supervisors), Assigned users, Team or Organization-wide.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 activity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activity on that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70. New Activity form</a:t>
            </a:r>
          </a:p>
        </p:txBody>
      </p:sp>
      <p:pic>
        <p:nvPicPr>
          <p:cNvPr id="4" name="Picture 3" descr="calendar-calendar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539" y="960120"/>
            <a:ext cx="303628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Assigned to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person doing it when that is not the owner.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Start date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Visibility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Defaults to Private.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Show on the public calendar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Allowed only for Organization-wide activities.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activity.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71. An activity record</a:t>
            </a:r>
          </a:p>
        </p:txBody>
      </p:sp>
      <p:pic>
        <p:nvPicPr>
          <p:cNvPr id="4" name="Picture 3" descr="calendar-calendar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5934"/>
            <a:ext cx="7680960" cy="532333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Ownership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Owner, assignee and section.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Report progress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owner or assignee updates the status and remarks, then clicks Save update.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Visibility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Who may see the activity.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72. Activity Monitoring (Division Chief)</a:t>
            </a:r>
          </a:p>
        </p:txBody>
      </p:sp>
      <p:pic>
        <p:nvPicPr>
          <p:cNvPr id="4" name="Picture 3" descr="calendar-calendar-moni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90599"/>
            <a:ext cx="7680960" cy="5334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Activity Monitoring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for supervisors.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Workload by employee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Open, upcoming, overdue, assigned and completed counts per employee.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All employees' calendar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Opens everyone's activities.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10.16 Public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73. Public Website management</a:t>
            </a:r>
          </a:p>
        </p:txBody>
      </p:sp>
      <p:pic>
        <p:nvPicPr>
          <p:cNvPr id="4" name="Picture 3" descr="publicsite-publicsite-adm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691" y="960120"/>
            <a:ext cx="298797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 Website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(Administrators and LGMED Staff).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What the public can see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What is published right now, counted from the records. Manage opens the module.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Website text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homepage heading, mandate, office details and standing notices.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74. The public website homepage</a:t>
            </a:r>
          </a:p>
        </p:txBody>
      </p:sp>
      <p:pic>
        <p:nvPicPr>
          <p:cNvPr id="4" name="Picture 3" descr="publicsite-publicsit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Public navigation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Home, News, Accomplishments, Programs, Frontline Services, Statistics, Reports, Document Library, Calendar, About, Contact.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Public visitor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10.17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75. Users &amp; Roles</a:t>
            </a:r>
          </a:p>
        </p:txBody>
      </p:sp>
      <p:pic>
        <p:nvPicPr>
          <p:cNvPr id="4" name="Picture 3" descr="administration-users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1062"/>
            <a:ext cx="7680960" cy="505307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Users &amp; Roles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(Administrators).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Roles &amp; permissions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permission matrix.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Account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Creates a user account.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Role filter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Narrows the list by role.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76. A user account</a:t>
            </a:r>
          </a:p>
        </p:txBody>
      </p:sp>
      <p:pic>
        <p:nvPicPr>
          <p:cNvPr id="4" name="Picture 3" descr="administration-users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Reset password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Sets a new password for the user.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Edit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Changes the account details and role.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Deactivate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Blocks sign-in. Accounts are never deleted, so their history stays attributable.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Full audit trail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Everything this person did, in the audit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77. New User Account form</a:t>
            </a:r>
          </a:p>
        </p:txBody>
      </p:sp>
      <p:pic>
        <p:nvPicPr>
          <p:cNvPr id="4" name="Picture 3" descr="administration-users-n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138" y="960120"/>
            <a:ext cx="543508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Username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190804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4404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Email address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272796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Initials for LGMED codes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Used in LGMED control codes (e.g. middle initial included).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61188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Role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 System Administrator, Administrator, LGMED Staff, Encoder or Viewer.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49580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Untick to create the account deactivated.</a:t>
            </a:r>
          </a:p>
        </p:txBody>
      </p:sp>
      <p:sp>
        <p:nvSpPr>
          <p:cNvPr id="15" name="Oval 14"/>
          <p:cNvSpPr/>
          <p:nvPr/>
        </p:nvSpPr>
        <p:spPr>
          <a:xfrm>
            <a:off x="8366760" y="54437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5379720"/>
            <a:ext cx="3200400" cy="883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Creates the account.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78. Roles &amp; Permissions - the permission matrix</a:t>
            </a:r>
          </a:p>
        </p:txBody>
      </p:sp>
      <p:pic>
        <p:nvPicPr>
          <p:cNvPr id="4" name="Picture 3" descr="administration-users-ro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512" y="960120"/>
            <a:ext cx="4602335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Permission Matrix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Which role holds which permission, generated from the rules the system enforces.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79. Menu Permissions (System Administrator only)</a:t>
            </a:r>
          </a:p>
        </p:txBody>
      </p:sp>
      <p:pic>
        <p:nvPicPr>
          <p:cNvPr id="4" name="Picture 3" descr="administration-users-menu-permis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803" y="960120"/>
            <a:ext cx="5357753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Menu Permissions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for the System Administrator.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Modules by Role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Tick or untick which modules each role is offered; Save role permissions.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 role permissions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System Administrator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80. System Settings</a:t>
            </a:r>
          </a:p>
        </p:txBody>
      </p:sp>
      <p:pic>
        <p:nvPicPr>
          <p:cNvPr id="4" name="Picture 3" descr="administration-settings-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4214" y="960120"/>
            <a:ext cx="5206931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Preferences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Records per page, session warning, system notice and the public website switch.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 settings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Saves the preferences.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Reference lists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Program categories, document types, sections, disposal authorities, provinces. Add / Edit / Remove.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81. Audit Logs</a:t>
            </a:r>
          </a:p>
        </p:txBody>
      </p:sp>
      <p:pic>
        <p:nvPicPr>
          <p:cNvPr id="4" name="Picture 3" descr="administration-audit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691" y="960120"/>
            <a:ext cx="2987977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Audit Logs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Sidebar entry (Administrators).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Date range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From date and To date; click Apply dates.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Needing attention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Failed sign-ins, refused access and similar.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Filters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Action, Record type and Actor.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10.18 e-SIRA — Electronic Signature, Identification, Routing and Approval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82. e-SIRA dashboard</a:t>
            </a:r>
          </a:p>
        </p:txBody>
      </p:sp>
      <p:pic>
        <p:nvPicPr>
          <p:cNvPr id="4" name="Picture 3" descr="esira-esira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586" y="960120"/>
            <a:ext cx="5520186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e-SIRA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LGMED Innovation Action, pinned at the foot of the sidebar.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084831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020824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e-SIRA menu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Dashboard, Documents, My Digital Certificate, My Signature Style (and, for administrators, Certificate Verification and Audit Trail).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145536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81528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Upload / Scan Document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Starts a new document.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4206240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142232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My certificates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PNPKI certificate and signature image.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5266944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202936"/>
            <a:ext cx="320040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Waiting on Me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Documents whose next step is yours.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83. My Digital Certificate</a:t>
            </a:r>
          </a:p>
        </p:txBody>
      </p:sp>
      <p:pic>
        <p:nvPicPr>
          <p:cNvPr id="4" name="Picture 3" descr="esira-esira-certific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658" y="960120"/>
            <a:ext cx="5528042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Digital certificate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 your DICT PNPKI .p12 file and its password.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Require password when signing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Recommended. Asks for the password each time you sign.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Save certificate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Registers the certificate. An administrator must verify it before you can sign.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My Registered Certificates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Your certificates and their verification status.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84. My Signature Style</a:t>
            </a:r>
          </a:p>
        </p:txBody>
      </p:sp>
      <p:pic>
        <p:nvPicPr>
          <p:cNvPr id="4" name="Picture 3" descr="esira-esira-sty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custom style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a graphic style (up to 10).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LGMED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85. Upload or Scan a Document</a:t>
            </a:r>
          </a:p>
        </p:txBody>
      </p:sp>
      <p:pic>
        <p:nvPicPr>
          <p:cNvPr id="4" name="Picture 3" descr="esira-esira-up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649" y="960120"/>
            <a:ext cx="6534060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Title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Required.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How is the document coming in?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 a PDF, or Scan pages (images from a scanner or phone camera).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PDF file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PDF to be signed or routed.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Upload and prepare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Uploads the file and opens the signing workspace.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86. The signing workspace - preview and signature boxes</a:t>
            </a:r>
          </a:p>
        </p:txBody>
      </p:sp>
      <p:pic>
        <p:nvPicPr>
          <p:cNvPr id="4" name="Picture 3" descr="esira-esira-worksp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15" y="960120"/>
            <a:ext cx="6928129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Zoom and pages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Zoom, fit width and move between pages.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Signature Boxes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Choose the signer for new boxes, then Add Signature Box and drag it into place.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Signature Box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Places a box on the current page.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Route for signature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Chooses who signs or approves, and in what order.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87. Routing the document</a:t>
            </a:r>
          </a:p>
        </p:txBody>
      </p:sp>
      <p:pic>
        <p:nvPicPr>
          <p:cNvPr id="4" name="Picture 3" descr="esira-esira-rou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01" y="960119"/>
            <a:ext cx="7319356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Recipient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person for this step.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 required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Signature, Approval, Review / initials, or For information / acknowledgement.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Add a step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Adds another recipient; steps run in order.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Send on route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Sends the document to the first recipient.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88. A one-step route: the Division Chief is asked to approve</a:t>
            </a:r>
          </a:p>
        </p:txBody>
      </p:sp>
      <p:pic>
        <p:nvPicPr>
          <p:cNvPr id="4" name="Picture 3" descr="esira-esira-route-fi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01" y="960119"/>
            <a:ext cx="7319356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Recipient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Antonio Villanueva (Division Chief) is chosen.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Action required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Approval.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Purpose / instructions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What the recipient is asked to do.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Send on route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Sends the document.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89. The recipient acts on a routed document (Division Chief)</a:t>
            </a:r>
          </a:p>
        </p:txBody>
      </p:sp>
      <p:pic>
        <p:nvPicPr>
          <p:cNvPr id="4" name="Picture 3" descr="esira-esira-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936" y="960120"/>
            <a:ext cx="7347486" cy="5394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Where the document stands and what is asked of you.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3500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28600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Approve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Completes your step (Mark reviewed or Acknowledge for those step types).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61188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Reject and return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Stops the route and returns the document to its owner.</a:t>
            </a:r>
          </a:p>
        </p:txBody>
      </p:sp>
      <p:sp>
        <p:nvSpPr>
          <p:cNvPr id="11" name="Oval 10"/>
          <p:cNvSpPr/>
          <p:nvPr/>
        </p:nvSpPr>
        <p:spPr>
          <a:xfrm>
            <a:off x="8366760" y="50017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937760"/>
            <a:ext cx="3200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Routing History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Every step: when it was routed, received and acted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90. PNPKI Certificate Verification (Administrators)</a:t>
            </a:r>
          </a:p>
        </p:txBody>
      </p:sp>
      <p:pic>
        <p:nvPicPr>
          <p:cNvPr id="4" name="Picture 3" descr="esira-esira-verifi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63066"/>
            <a:ext cx="7680960" cy="498906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Awaiting Verification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Certificates registered by employees. Compare name, e-mail and serial number with the PNPKI issuance record, then Verify.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3675887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361188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Reviewed Certificates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Verified or rejected certificates; a verified one can be revoked.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Administrator (Division Chief)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91. e-SIRA Documents</a:t>
            </a:r>
          </a:p>
        </p:txBody>
      </p:sp>
      <p:pic>
        <p:nvPicPr>
          <p:cNvPr id="4" name="Picture 3" descr="esira-esira-docum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Views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Awaiting my signature, Waiting on me, Owned by me, Out for signature and more.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79196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72796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Status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Draft through Completed, Rejected or Cancelled.</a:t>
            </a:r>
          </a:p>
        </p:txBody>
      </p:sp>
      <p:sp>
        <p:nvSpPr>
          <p:cNvPr id="9" name="Oval 8"/>
          <p:cNvSpPr/>
          <p:nvPr/>
        </p:nvSpPr>
        <p:spPr>
          <a:xfrm>
            <a:off x="8366760" y="455980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4495800"/>
            <a:ext cx="3200400" cy="176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Records table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One row per record. Underlined column headings sort the list; click again to reverse the 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92. e-SIRA: electronic signature and routing</a:t>
            </a:r>
          </a:p>
        </p:txBody>
      </p:sp>
      <p:pic>
        <p:nvPicPr>
          <p:cNvPr id="4" name="Picture 3" descr="diagrams-esi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395" y="960120"/>
            <a:ext cx="7130729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11. Common Tasks and Procedures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12. Notifications and Alerts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13. Data Validation and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Figure 93. The page shown when your role does not permit an action</a:t>
            </a:r>
          </a:p>
        </p:txBody>
      </p:sp>
      <p:pic>
        <p:nvPicPr>
          <p:cNvPr id="4" name="Picture 3" descr="errors-errors-4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7300"/>
            <a:ext cx="7680960" cy="48006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366760" y="1024128"/>
            <a:ext cx="329184" cy="329184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960120"/>
            <a:ext cx="3200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2A5C"/>
                </a:solidFill>
                <a:latin typeface="Calibri"/>
              </a:rPr>
              <a:t>Access denied</a:t>
            </a:r>
          </a:p>
          <a:p>
            <a:r>
              <a:rPr sz="1200" b="0">
                <a:solidFill>
                  <a:srgbClr val="334155"/>
                </a:solidFill>
                <a:latin typeface="Calibri"/>
              </a:rPr>
              <a:t>The action is not available to your role. Use the sidebar to return.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7220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Signed in as: Viewer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Calibri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14. 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15. Troubleshooting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16. Security, Privacy, and Good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17. Glossary of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Calibri"/>
              </a:rPr>
              <a:t>18. Appendices and Reference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LGMED-iMMS System User Manual | DILG Regional Office XIII - Caraga | LGMED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CBD5E1"/>
                </a:solidFill>
                <a:latin typeface="Calibri"/>
              </a:rPr>
              <a:t>131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LGMED-iMMS System User Manual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